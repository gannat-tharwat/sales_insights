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5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1115568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D87"/>
                </a:solidFill>
                <a:latin typeface="Aptos"/>
              </a:defRPr>
            </a:pPr>
            <a:r>
              <a:t>POWER BI  |  POWER QUERY  |  DATA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4572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1F374F"/>
                </a:solidFill>
                <a:latin typeface="Aptos"/>
              </a:defRPr>
            </a:pPr>
            <a:r>
              <a:t>Data Cleaning Documentation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286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56248"/>
            <a:ext cx="6858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F6C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25296"/>
            <a:ext cx="1097280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A323A"/>
                </a:solidFill>
                <a:latin typeface="Aptos"/>
              </a:defRPr>
            </a:pPr>
            <a:r>
              <a:t>Purpose: Prepare the dataset for reliable analysis by correcting data types, cleaning text, and removing unused fields.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19072"/>
            <a:ext cx="5440680" cy="1298448"/>
          </a:xfrm>
          <a:prstGeom prst="roundRect">
            <a:avLst/>
          </a:prstGeom>
          <a:solidFill>
            <a:srgbClr val="F2F6F9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166360" cy="2377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07D87"/>
                </a:solidFill>
                <a:latin typeface="Aptos"/>
              </a:defRPr>
            </a:pPr>
            <a:r>
              <a:t>1. DATE COLUMNS — Order Date &amp; Ship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30552"/>
            <a:ext cx="5166360" cy="82295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Action: Used Change Type &gt; Using Locale and changed both columns from Text to Date.</a:t>
            </a:r>
          </a:p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Why: These fields represent dates, not text.</a:t>
            </a:r>
          </a:p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Benefit: Supports date filters, sorting, and date calculations.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719072"/>
            <a:ext cx="5394960" cy="1298448"/>
          </a:xfrm>
          <a:prstGeom prst="roundRect">
            <a:avLst/>
          </a:prstGeom>
          <a:solidFill>
            <a:srgbClr val="F2F6F9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828800"/>
            <a:ext cx="5120640" cy="2377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07D87"/>
                </a:solidFill>
                <a:latin typeface="Aptos"/>
              </a:defRPr>
            </a:pPr>
            <a:r>
              <a:t>2. CATEGORY — Trim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2130552"/>
            <a:ext cx="5120640" cy="82295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Action: Selected Category &gt; Transform &gt; Format &gt; Trim.</a:t>
            </a:r>
          </a:p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Why: Removes extra spaces at the start and end of text values.</a:t>
            </a:r>
          </a:p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Benefit: Helps keep category labels consistent.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182112"/>
            <a:ext cx="5440680" cy="1298448"/>
          </a:xfrm>
          <a:prstGeom prst="roundRect">
            <a:avLst/>
          </a:prstGeom>
          <a:solidFill>
            <a:srgbClr val="F2F6F9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5166360" cy="2377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07D87"/>
                </a:solidFill>
                <a:latin typeface="Aptos"/>
              </a:defRPr>
            </a:pPr>
            <a:r>
              <a:t>3. SALES — Decimal Number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93592"/>
            <a:ext cx="5166360" cy="63094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rPr dirty="0"/>
              <a:t>Action: Changed Sales from Text to Decimal Number.</a:t>
            </a:r>
          </a:p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rPr dirty="0"/>
              <a:t>Why: Sales contains numeric </a:t>
            </a:r>
            <a:r>
              <a:rPr dirty="0" smtClean="0"/>
              <a:t>values.</a:t>
            </a:r>
            <a:endParaRPr dirty="0"/>
          </a:p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rPr dirty="0"/>
              <a:t>Benefit: Enables numeric calculations, totals, and comparisons.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182112"/>
            <a:ext cx="5394960" cy="1298448"/>
          </a:xfrm>
          <a:prstGeom prst="roundRect">
            <a:avLst/>
          </a:prstGeom>
          <a:solidFill>
            <a:srgbClr val="F2F6F9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6792" y="3291840"/>
            <a:ext cx="5120640" cy="2377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07D87"/>
                </a:solidFill>
                <a:latin typeface="Aptos"/>
              </a:defRPr>
            </a:pPr>
            <a:r>
              <a:t>4. SHIPPING DAY — Custom Column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3593592"/>
            <a:ext cx="5120640" cy="82295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Action: Added a column named Shipping Day using Order Date and Ship Date; changed its type to a number.</a:t>
            </a:r>
          </a:p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Why: To calculate the shipping duration in days.</a:t>
            </a:r>
          </a:p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Benefit: Supports average shipping-time analysis.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645152"/>
            <a:ext cx="5440680" cy="1298448"/>
          </a:xfrm>
          <a:prstGeom prst="roundRect">
            <a:avLst/>
          </a:prstGeom>
          <a:solidFill>
            <a:srgbClr val="F2F6F9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5166360" cy="2377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07D87"/>
                </a:solidFill>
                <a:latin typeface="Aptos"/>
              </a:defRPr>
            </a:pPr>
            <a:r>
              <a:t>5. ID COLUMN — Remove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56632"/>
            <a:ext cx="5166360" cy="82295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Action: Removed the ID column.</a:t>
            </a:r>
          </a:p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Why: It was considered unnecessary for the current analysis.</a:t>
            </a:r>
          </a:p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Benefit: Simplifies the table. Keep it if it is needed for joins or record tracking.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4645152"/>
            <a:ext cx="5394960" cy="1298448"/>
          </a:xfrm>
          <a:prstGeom prst="roundRect">
            <a:avLst/>
          </a:prstGeom>
          <a:solidFill>
            <a:srgbClr val="F2F6F9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4754880"/>
            <a:ext cx="5120640" cy="2377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07D87"/>
                </a:solidFill>
                <a:latin typeface="Aptos"/>
              </a:defRPr>
            </a:pPr>
            <a:r>
              <a:t>6. CUSTOMER ID — Text Formatting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5056632"/>
            <a:ext cx="5120640" cy="82295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Action: Applied a capitalization transformation to Customer ID.</a:t>
            </a:r>
          </a:p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Why: To make text formatting more consistent.</a:t>
            </a:r>
          </a:p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Benefit: Improves readability. Verify IDs remain unchanged in meaning.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1115568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7D87"/>
                </a:solidFill>
                <a:latin typeface="Aptos"/>
              </a:defRPr>
            </a:pPr>
            <a:r>
              <a:t>POWER BI  |  POWER QUERY  |  DATA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4572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1F374F"/>
                </a:solidFill>
                <a:latin typeface="Aptos"/>
              </a:defRPr>
            </a:pPr>
            <a:r>
              <a:t>Data Cleaning Documentation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2860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56248"/>
            <a:ext cx="6858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F6C7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53312"/>
            <a:ext cx="5440680" cy="1298448"/>
          </a:xfrm>
          <a:prstGeom prst="roundRect">
            <a:avLst/>
          </a:prstGeom>
          <a:solidFill>
            <a:srgbClr val="F2F6F9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166360" cy="2377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07D87"/>
                </a:solidFill>
                <a:latin typeface="Aptos"/>
              </a:defRPr>
            </a:pPr>
            <a:r>
              <a:t>7. COUNTRY — Remove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64792"/>
            <a:ext cx="5166360" cy="82295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Action: Removed Country because all rows appeared to have the same country value.</a:t>
            </a:r>
          </a:p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Why: It may not help compare records within this dataset.</a:t>
            </a:r>
          </a:p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Benefit: Reduces unnecessary fields. Confirm it is not needed for later geographic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353312"/>
            <a:ext cx="5394960" cy="1298448"/>
          </a:xfrm>
          <a:prstGeom prst="roundRect">
            <a:avLst/>
          </a:prstGeom>
          <a:solidFill>
            <a:srgbClr val="F2F6F9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1463040"/>
            <a:ext cx="5120640" cy="2377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07D87"/>
                </a:solidFill>
                <a:latin typeface="Aptos"/>
              </a:defRPr>
            </a:pPr>
            <a:r>
              <a:t>VALIDATION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764792"/>
            <a:ext cx="5120640" cy="82295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• Check dates against the original data after Using Locale.</a:t>
            </a:r>
          </a:p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• Check Sales for conversion errors.</a:t>
            </a:r>
          </a:p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• Check Shipping Day values and formula direction.</a:t>
            </a:r>
          </a:p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• Check Customer ID values after formatting.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834640"/>
            <a:ext cx="11000232" cy="1298448"/>
          </a:xfrm>
          <a:prstGeom prst="roundRect">
            <a:avLst/>
          </a:prstGeom>
          <a:solidFill>
            <a:srgbClr val="F2F6F9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944368"/>
            <a:ext cx="10725911" cy="23774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07D87"/>
                </a:solidFill>
                <a:latin typeface="Aptos"/>
              </a:defRPr>
            </a:pPr>
            <a:r>
              <a:t>IMPORTANT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10725911" cy="82295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• Trim removes leading and trailing spaces; it does not remove punctuation.</a:t>
            </a:r>
          </a:p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• Shipping duration is usually calculated as Ship Date − Order Date. Confirm the formula used.</a:t>
            </a:r>
          </a:p>
          <a:p>
            <a:pPr>
              <a:spcAft>
                <a:spcPts val="300"/>
              </a:spcAft>
              <a:defRPr sz="1100" b="0">
                <a:solidFill>
                  <a:srgbClr val="2A323A"/>
                </a:solidFill>
                <a:latin typeface="Aptos"/>
              </a:defRPr>
            </a:pPr>
            <a:r>
              <a:t>• A numeric Shipping Day column can usually use Whole Number if durations are whole days.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434840"/>
            <a:ext cx="10698480" cy="5486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F374F"/>
                </a:solidFill>
                <a:latin typeface="Aptos"/>
              </a:defRPr>
            </a:pPr>
            <a:r>
              <a:t>Handoff: This is an editable working document. Continue documenting any remaining cleaning steps in the same format: Action, Why, and Benefit.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12080"/>
            <a:ext cx="106984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5F6C78"/>
                </a:solidFill>
                <a:latin typeface="Aptos"/>
              </a:defRPr>
            </a:pPr>
            <a:r>
              <a:t>Project / Dataset: [Add project name]     |     Prepared by: [Add name if needed]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477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Ahmed Ezzat</cp:lastModifiedBy>
  <cp:revision>2</cp:revision>
  <dcterms:created xsi:type="dcterms:W3CDTF">2013-01-27T09:14:16Z</dcterms:created>
  <dcterms:modified xsi:type="dcterms:W3CDTF">2026-10-22T13:13:59Z</dcterms:modified>
  <cp:category/>
</cp:coreProperties>
</file>